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07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1434" y="1442646"/>
            <a:ext cx="1150882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sz="5000">
                <a:latin typeface="Montserrat" panose="00000500000000000000" pitchFamily="2" charset="0"/>
              </a:rPr>
              <a:t>Đánh giá khả năng sinh Gherkin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6971" y="2310780"/>
            <a:ext cx="1117775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D2FF"/>
                </a:solidFill>
                <a:latin typeface="Segoe UI"/>
              </a:defRPr>
            </a:pPr>
            <a:r>
              <a:rPr sz="5000">
                <a:latin typeface="Montserrat" panose="00000500000000000000" pitchFamily="2" charset="0"/>
              </a:rPr>
              <a:t>từ Connextra User Stories bằng GPT-4o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4247" y="4294009"/>
            <a:ext cx="2743200" cy="36576"/>
          </a:xfrm>
          <a:prstGeom prst="roundRect">
            <a:avLst/>
          </a:prstGeom>
          <a:solidFill>
            <a:srgbClr val="0FC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6647" y="4471416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  <a:latin typeface="Montserrat" panose="00000500000000000000" pitchFamily="2" charset="0"/>
              </a:rPr>
              <a:t>Nhóm 4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647" y="502920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  <a:latin typeface="Montserrat" panose="00000500000000000000" pitchFamily="2" charset="0"/>
              </a:rPr>
              <a:t>Tống Vỹ Thuận (SE194643)  •  Võ Hiếu Chương (SE204862)  •  Nguyễn Hiếu An (SE205060)</a:t>
            </a:r>
            <a:br>
              <a:rPr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>
                <a:solidFill>
                  <a:schemeClr val="bg1"/>
                </a:solidFill>
                <a:latin typeface="Montserrat" panose="00000500000000000000" pitchFamily="2" charset="0"/>
              </a:rPr>
              <a:t>Trần Tuấn Khang (SE204881)  •  Nguyễn Minh Hoàng (SE204811)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647" y="5697109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  <a:latin typeface="Montserrat" panose="00000500000000000000" pitchFamily="2" charset="0"/>
              </a:rPr>
              <a:t>Proposal </a:t>
            </a:r>
            <a:r>
              <a:rPr lang="en-US">
                <a:solidFill>
                  <a:schemeClr val="bg1"/>
                </a:solidFill>
                <a:latin typeface="Montserrat" panose="00000500000000000000" pitchFamily="2" charset="0"/>
              </a:rPr>
              <a:t>Presentation</a:t>
            </a:r>
            <a:r>
              <a:rPr>
                <a:solidFill>
                  <a:schemeClr val="bg1"/>
                </a:solidFill>
                <a:latin typeface="Montserrat" panose="00000500000000000000" pitchFamily="2" charset="0"/>
              </a:rPr>
              <a:t> — Tuần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2237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rPr>
                <a:latin typeface="Montserrat" panose="00000500000000000000" pitchFamily="2" charset="0"/>
              </a:rPr>
              <a:t>Vấn đề nghiên cứu &amp; </a:t>
            </a:r>
            <a:r>
              <a:rPr lang="en-US">
                <a:latin typeface="Montserrat" panose="00000500000000000000" pitchFamily="2" charset="0"/>
              </a:rPr>
              <a:t>GAP</a:t>
            </a:r>
            <a:endParaRPr>
              <a:latin typeface="Montserrat" panose="00000500000000000000" pitchFamily="2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286000"/>
          </a:xfrm>
          <a:prstGeom prst="roundRect">
            <a:avLst/>
          </a:prstGeom>
          <a:solidFill>
            <a:srgbClr val="1E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399" y="132935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rPr sz="1600">
                <a:latin typeface="Montserrat" panose="00000500000000000000" pitchFamily="2" charset="0"/>
              </a:rPr>
              <a:t>BỐI CẢNH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502" y="1695115"/>
            <a:ext cx="48463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500">
                <a:solidFill>
                  <a:schemeClr val="bg1"/>
                </a:solidFill>
              </a:rPr>
              <a:t>• BDD (Phát triển hướng hành vi) kết nối yêu cầu → kiểm thử qua ngôn ngữ Gherkin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500">
                <a:solidFill>
                  <a:schemeClr val="bg1"/>
                </a:solidFill>
              </a:rPr>
              <a:t>• Viết Gherkin thủ công tốn thời gian, dễ sai cú pháp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500">
                <a:solidFill>
                  <a:schemeClr val="bg1"/>
                </a:solidFill>
              </a:rPr>
              <a:t>• LLM (AI ngôn ngữ lớn) có thể tự động hóa bước này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500">
                <a:solidFill>
                  <a:schemeClr val="bg1"/>
                </a:solidFill>
              </a:rPr>
              <a:t>• Nhưng chưa ai đánh giá GPT-4o cho task cụ thể này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12080" cy="2286000"/>
          </a:xfrm>
          <a:prstGeom prst="roundRect">
            <a:avLst/>
          </a:prstGeom>
          <a:solidFill>
            <a:srgbClr val="1E2A4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32935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Segoe UI"/>
              </a:defRPr>
            </a:pPr>
            <a:r>
              <a:rPr lang="vi-VN" sz="1600">
                <a:latin typeface="Montserrat" panose="00000500000000000000" pitchFamily="2" charset="0"/>
              </a:rPr>
              <a:t>GAP</a:t>
            </a:r>
            <a:endParaRPr sz="1600">
              <a:latin typeface="Montserrat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2901" y="1695115"/>
            <a:ext cx="51370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500">
                <a:solidFill>
                  <a:schemeClr val="bg1"/>
                </a:solidFill>
              </a:rPr>
              <a:t>• GAP-T: Chưa ai dùng GPT-4o bản full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500">
                <a:solidFill>
                  <a:schemeClr val="bg1"/>
                </a:solidFill>
              </a:rPr>
              <a:t>• GAP-M1: Chưa ai đo Cosine Similarity (all-MiniLM-L6-v2)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500">
                <a:solidFill>
                  <a:schemeClr val="bg1"/>
                </a:solidFill>
              </a:rPr>
              <a:t>• GAP-M2: Chưa ai dùng behave parser kiểm tra cú pháp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500">
                <a:solidFill>
                  <a:schemeClr val="bg1"/>
                </a:solidFill>
              </a:rPr>
              <a:t>• GAP-D: Chưa ai test trên dataset Connextra công khai ≥ 50 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2560320"/>
          </a:xfrm>
          <a:prstGeom prst="roundRect">
            <a:avLst/>
          </a:prstGeom>
          <a:solidFill>
            <a:srgbClr val="0A2A1A"/>
          </a:solidFill>
          <a:ln w="19050">
            <a:solidFill>
              <a:srgbClr val="0FC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CB9B"/>
                </a:solidFill>
                <a:latin typeface="Segoe UI"/>
              </a:defRPr>
            </a:pPr>
            <a:r>
              <a:rPr sz="1600">
                <a:latin typeface="Montserrat" panose="00000500000000000000" pitchFamily="2" charset="0"/>
              </a:rPr>
              <a:t>GAP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99" y="4389120"/>
            <a:ext cx="10160001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rPr sz="1500">
                <a:solidFill>
                  <a:schemeClr val="bg1"/>
                </a:solidFill>
              </a:rPr>
              <a:t>Không có nghiên cứu nào đánh giá GPT-4o (official API, zero-shot, temperature=0) cho việc sinh Gherkin acceptance test scenarios từ user story format Connextra, đo bằng cosine semantic similarity (all-MiniLM-L6-v2) ≥ ngưỡng so với expert-written Gherkin VÀ executable syntax rate bằng Gherkin parser (behave --dry-run) ≥ ngưỡng.</a:t>
            </a:r>
            <a:br>
              <a:rPr sz="1500">
                <a:solidFill>
                  <a:schemeClr val="bg1"/>
                </a:solidFill>
              </a:rPr>
            </a:br>
            <a:br>
              <a:rPr sz="1500">
                <a:solidFill>
                  <a:schemeClr val="bg1"/>
                </a:solidFill>
              </a:rPr>
            </a:br>
            <a:r>
              <a:rPr sz="1500">
                <a:solidFill>
                  <a:schemeClr val="bg1"/>
                </a:solidFill>
              </a:rPr>
              <a:t>Căn cứ: 30/30 papers trong evidence table xác nhận.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7847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rPr>
                <a:latin typeface="Montserrat" panose="00000500000000000000" pitchFamily="2" charset="0"/>
              </a:rPr>
              <a:t>Nghiên cứu liên quan (Related Work)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LLM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Metric chính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Kết quả tốt nhất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Hạn chế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Rathnayake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GPT-4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500 US (riêng)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BERTScore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91.16%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Không dùng GPT-4o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Fernandes 2025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GPT-4o Mini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10 mẫu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METEOR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0.84 (Gemini)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N quá nhỏ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Karpurapu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GPT-3.5/4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~50 US (Mendeley)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Gherkin-lint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~0 lỗi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Lint ≠ Parser thật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Varpe 2025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Qwen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PURE (SRS)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BERTScore F1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80.58%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SRS ≠ Connextra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Ferreira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GPT-4 Turbo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13 US (ô tô)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Syntactic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N=13, không 4o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rPr lang="en-US">
                <a:latin typeface="Montserrat" panose="00000500000000000000" pitchFamily="2" charset="0"/>
              </a:rPr>
              <a:t>→ Nhận xét chung:</a:t>
            </a:r>
            <a:endParaRPr>
              <a:latin typeface="Montserrat" panose="000005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058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• Đa số dùng phiên bản LLM cũ (GPT-4, GPT-3.5), chưa ai dùng GPT-4o bản full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• Metric: linter tĩnh hoặc N-gram (METEOR/BLEU) — thiếu kết hợp semantic + parser thật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• Dataset: nhỏ hoặc riêng doanh nghiệp — thiếu dataset Connextra công khai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37375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Segoe UI"/>
              </a:defRPr>
            </a:pPr>
            <a:r>
              <a:rPr>
                <a:latin typeface="Montserrat" panose="00000500000000000000" pitchFamily="2" charset="0"/>
              </a:rPr>
              <a:t>★ Research Questions — Câu hỏi nghiên cứu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1E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/>
              </a:defRPr>
            </a:pPr>
            <a:r>
              <a:rPr>
                <a:latin typeface="Montserrat" panose="00000500000000000000" pitchFamily="2" charset="0"/>
              </a:rPr>
              <a:t>RQ1 — Về ý nghĩa (Semantic)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69057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GPT-4o zero-shot sinh Gherkin có đạt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sz="1600">
                <a:solidFill>
                  <a:schemeClr val="bg1"/>
                </a:solidFill>
              </a:rPr>
              <a:t>cosine similarity ≥ 0.85 so với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sz="1600">
                <a:solidFill>
                  <a:schemeClr val="bg1"/>
                </a:solidFill>
              </a:rPr>
              <a:t>chuyên gia viết không?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H0:  μ_sim  ≤  0.85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CB9B"/>
                </a:solidFill>
                <a:latin typeface="Segoe UI"/>
              </a:defRPr>
            </a:pPr>
            <a:r>
              <a:t>H1:  μ_sim  &gt;  0.85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50292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Metric: Cosine Similarity (all-MiniLM-L6-v2)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Threshold: 0.85 — Case 3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  → Tham chiếu METEOR 0.84 (Fernandes 2025)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  → Xác nhận qua pilot Tuần 7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Test: Wilcoxon signed-rank (one-tailed)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α = 0.05  |  Effect size: Cliff's delta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1E2A4A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rPr>
                <a:latin typeface="Montserrat" panose="00000500000000000000" pitchFamily="2" charset="0"/>
              </a:rPr>
              <a:t>RQ2 — Về cú pháp (Executable)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70687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GPT-4o zero-shot sinh Gherkin có đạt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sz="1600">
                <a:solidFill>
                  <a:schemeClr val="bg1"/>
                </a:solidFill>
              </a:rPr>
              <a:t>tỷ lệ parse thành công ≥ 80%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sz="1600">
                <a:solidFill>
                  <a:schemeClr val="bg1"/>
                </a:solidFill>
              </a:rPr>
              <a:t>(behave --dry-run) không?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H0:  p_exec  ≤  0.80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CB9B"/>
                </a:solidFill>
                <a:latin typeface="Segoe UI"/>
              </a:defRPr>
            </a:pPr>
            <a:r>
              <a:t>H1:  p_exec  &gt;  0.80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50292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Metric: Executable Syntax Rate (behave parser)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Threshold: 80% — Case 2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  → Floor value từ Storer 2019 (80%)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  → Bảo thủ hơn Fonseca 2025 (93.3%)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Test: Binomial exact test (one-tailed)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α = 0.05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rPr sz="2800">
                <a:latin typeface="Montserrat" panose="00000500000000000000" pitchFamily="2" charset="0"/>
              </a:rPr>
              <a:t>Pipeline thí nghiệm (Experiment Protocol)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3200400"/>
          </a:xfrm>
          <a:prstGeom prst="roundRect">
            <a:avLst/>
          </a:prstGeom>
          <a:solidFill>
            <a:srgbClr val="1E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828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rPr sz="1500">
                <a:latin typeface="Montserrat" panose="00000500000000000000" pitchFamily="2" charset="0"/>
              </a:rPr>
              <a:t>1. THU THẬP</a:t>
            </a:r>
            <a:br>
              <a:rPr sz="1500">
                <a:latin typeface="Montserrat" panose="00000500000000000000" pitchFamily="2" charset="0"/>
              </a:rPr>
            </a:br>
            <a:r>
              <a:rPr sz="1500">
                <a:latin typeface="Montserrat" panose="00000500000000000000" pitchFamily="2" charset="0"/>
              </a:rPr>
              <a:t>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828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Dataset Dalpiaz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(Mendeley Data)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≥ 50 user stories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chuẩn Connextra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371600"/>
            <a:ext cx="2011680" cy="3200400"/>
          </a:xfrm>
          <a:prstGeom prst="roundRect">
            <a:avLst/>
          </a:prstGeom>
          <a:solidFill>
            <a:srgbClr val="1E2A4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360" y="1508760"/>
            <a:ext cx="1828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Segoe UI"/>
              </a:defRPr>
            </a:pPr>
            <a:r>
              <a:rPr sz="1500">
                <a:latin typeface="Montserrat" panose="00000500000000000000" pitchFamily="2" charset="0"/>
              </a:rPr>
              <a:t>2. SINH</a:t>
            </a:r>
            <a:br>
              <a:rPr sz="1500">
                <a:latin typeface="Montserrat" panose="00000500000000000000" pitchFamily="2" charset="0"/>
              </a:rPr>
            </a:br>
            <a:r>
              <a:rPr sz="1500">
                <a:latin typeface="Montserrat" panose="00000500000000000000" pitchFamily="2" charset="0"/>
              </a:rPr>
              <a:t>GHERKIN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377440"/>
            <a:ext cx="1828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GPT-4o API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zero-shot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temp = 0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prompt chuẩn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371600"/>
            <a:ext cx="2011680" cy="3200400"/>
          </a:xfrm>
          <a:prstGeom prst="roundRect">
            <a:avLst/>
          </a:prstGeom>
          <a:solidFill>
            <a:srgbClr val="1E2A4A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1508760"/>
            <a:ext cx="1828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rPr sz="1500">
                <a:latin typeface="Montserrat" panose="00000500000000000000" pitchFamily="2" charset="0"/>
              </a:rPr>
              <a:t>3. KIỂM TRA</a:t>
            </a:r>
            <a:br>
              <a:rPr sz="1500">
                <a:latin typeface="Montserrat" panose="00000500000000000000" pitchFamily="2" charset="0"/>
              </a:rPr>
            </a:br>
            <a:r>
              <a:rPr sz="1500">
                <a:latin typeface="Montserrat" panose="00000500000000000000" pitchFamily="2" charset="0"/>
              </a:rPr>
              <a:t>CÚ PHÁP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377440"/>
            <a:ext cx="1828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behave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--dry-run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Pass / Fail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→ RQ2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371600"/>
            <a:ext cx="2011680" cy="3200400"/>
          </a:xfrm>
          <a:prstGeom prst="roundRect">
            <a:avLst/>
          </a:prstGeom>
          <a:solidFill>
            <a:srgbClr val="1E2A4A"/>
          </a:solidFill>
          <a:ln w="19050">
            <a:solidFill>
              <a:srgbClr val="0FC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43800" y="1508760"/>
            <a:ext cx="1828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CB9B"/>
                </a:solidFill>
                <a:latin typeface="Segoe UI"/>
              </a:defRPr>
            </a:pPr>
            <a:r>
              <a:rPr sz="1500">
                <a:latin typeface="Montserrat" panose="00000500000000000000" pitchFamily="2" charset="0"/>
              </a:rPr>
              <a:t>4. ĐO ĐỘ</a:t>
            </a:r>
            <a:br>
              <a:rPr sz="1500">
                <a:latin typeface="Montserrat" panose="00000500000000000000" pitchFamily="2" charset="0"/>
              </a:rPr>
            </a:br>
            <a:r>
              <a:rPr sz="1500">
                <a:latin typeface="Montserrat" panose="00000500000000000000" pitchFamily="2" charset="0"/>
              </a:rPr>
              <a:t>TƯƠNG ĐỒNG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377440"/>
            <a:ext cx="1828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all-MiniLM-L6-v2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Cosine Similarity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vs Expert Gherkin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→ RQ1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371600"/>
            <a:ext cx="2011680" cy="3200400"/>
          </a:xfrm>
          <a:prstGeom prst="roundRect">
            <a:avLst/>
          </a:prstGeom>
          <a:solidFill>
            <a:srgbClr val="1E2A4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1508760"/>
            <a:ext cx="1828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Segoe UI"/>
              </a:defRPr>
            </a:pPr>
            <a:r>
              <a:rPr sz="1500">
                <a:latin typeface="Montserrat" panose="00000500000000000000" pitchFamily="2" charset="0"/>
              </a:rPr>
              <a:t>5. PHÂN TÍCH</a:t>
            </a:r>
            <a:br>
              <a:rPr sz="1500">
                <a:latin typeface="Montserrat" panose="00000500000000000000" pitchFamily="2" charset="0"/>
              </a:rPr>
            </a:br>
            <a:r>
              <a:rPr sz="1500">
                <a:latin typeface="Montserrat" panose="00000500000000000000" pitchFamily="2" charset="0"/>
              </a:rPr>
              <a:t>THỐNG KÊ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77440"/>
            <a:ext cx="1828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Wilcoxon test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Binomial test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p-value &lt; 0.05?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Cliff's delta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Input: User Stories (.csv)  →  Output: metric_results.json + p-values + biểu đồ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03520"/>
            <a:ext cx="10972800" cy="868680"/>
          </a:xfrm>
          <a:prstGeom prst="roundRect">
            <a:avLst/>
          </a:prstGeom>
          <a:solidFill>
            <a:srgbClr val="1E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443805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Cấu hình cố định: Model = gpt-4o-2024-05-13  |  Temperature = 0  |  Top_p = 1.0  |  Max_tokens = 1500  |  Strategy = Zero-shot  |  Embedding = all-MiniLM-L6-v2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965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rPr>
                <a:latin typeface="Montserrat" panose="00000500000000000000" pitchFamily="2" charset="0"/>
              </a:rPr>
              <a:t>Dataset &amp;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1E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72206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Segoe UI"/>
              </a:defRPr>
            </a:pPr>
            <a:r>
              <a:rPr>
                <a:latin typeface="Montserrat" panose="00000500000000000000" pitchFamily="2" charset="0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40709"/>
            <a:ext cx="5029200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Tên: Requirements data sets (user stories)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Tác giả: Fabiano Dalpiaz (2018)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Nguồn: Mendeley Data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DOI: 10.17632/7zbk8zsd8y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Quy mô: 22 file, ~1000+ user stories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N thực dùng: ≥ 50 (chọn từ ≥ 3 domain)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Format: Connextra chuẩn (As a… I want… So that…)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endParaRPr sz="160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✅  Accessible: Đã verify, link public hoạt động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✅  Đa domain: gov, finance, healthcare, PM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1E2A4A"/>
          </a:solidFill>
          <a:ln w="19050">
            <a:solidFill>
              <a:srgbClr val="0FC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572206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CB9B"/>
                </a:solidFill>
                <a:latin typeface="Segoe UI"/>
              </a:defRPr>
            </a:pPr>
            <a:r>
              <a:rPr>
                <a:latin typeface="Montserrat" panose="00000500000000000000" pitchFamily="2" charset="0"/>
              </a:rPr>
              <a:t>BASELINE (Đáp án chuẩn)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40709"/>
            <a:ext cx="5029200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Expert-written Gherkin (.feature files)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endParaRPr sz="160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Nguồn ưu tiên: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  1. File .feature có sẵn từ repo open-source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     (Spring, Cucumber-JS, etc.)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  2. Viết bởi role DG theo rubric nghiêm ngặt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endParaRPr sz="160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Đánh giá tự động: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  • Cosine Similarity tính bằng script Python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  • Không có yếu tố chủ quan con người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rPr>
                <a:latin typeface="Montserrat" panose="00000500000000000000" pitchFamily="2" charset="0"/>
              </a:rPr>
              <a:t>Kế hoạch thống kê (Statistical Plan)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6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RQ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Ngưỡng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Chiều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α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Effect Size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Cosine 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≥ 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Wilcoxon signed-rank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One-tailed (greater)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Cliff's delta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RQ2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Executable Rate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≥ 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Binomial exact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One-tailed (greater)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0040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Segoe UI"/>
              </a:defRPr>
            </a:pPr>
            <a:r>
              <a:rPr>
                <a:latin typeface="Montserrat" panose="00000500000000000000" pitchFamily="2" charset="0"/>
              </a:rPr>
              <a:t>Diễn giải tổ hợp kết quả: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749039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Kịch bản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RQ1 (Ý nghĩa)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RQ2 (Cú pháp)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Ý nghĩa thực tế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🎉 Tốt nhất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✅ Đạt ≥ 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✅ Đạt ≥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Áp dụng ngay vào CI/CD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⚠️ Đúng ý, sai form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✅ Đạt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❌ Không đạt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Cần post-processor sửa syntax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⚠️ Đúng form, sai 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❌ Không đạt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✅ Đạt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AI bị hallucination → cần RAG/few-shot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😐 Thất bại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❌ Không đạt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❌ Không đạt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Cần fine-tuning hoặc đổi model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rPr>
                <a:latin typeface="Montserrat" panose="00000500000000000000" pitchFamily="2" charset="0"/>
              </a:rPr>
              <a:t>Mối</a:t>
            </a:r>
            <a:r>
              <a:t> đe dọa tính hiệu lực (Threats to Validity)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7315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2560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Segoe UI"/>
              </a:defRPr>
            </a:pPr>
            <a:r>
              <a:rPr sz="1500">
                <a:latin typeface="Montserrat" panose="00000500000000000000" pitchFamily="2" charset="0"/>
              </a:rPr>
              <a:t>INTERNAL</a:t>
            </a:r>
            <a:br>
              <a:rPr sz="1500">
                <a:latin typeface="Montserrat" panose="00000500000000000000" pitchFamily="2" charset="0"/>
              </a:rPr>
            </a:br>
            <a:r>
              <a:rPr sz="1500">
                <a:latin typeface="Montserrat" panose="00000500000000000000" pitchFamily="2" charset="0"/>
              </a:rPr>
              <a:t>(Bên trong)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011680"/>
            <a:ext cx="2743200" cy="1828800"/>
          </a:xfrm>
          <a:prstGeom prst="roundRect">
            <a:avLst/>
          </a:prstGeom>
          <a:solidFill>
            <a:srgbClr val="2A151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Segoe UI"/>
              </a:defRPr>
            </a:pPr>
            <a:r>
              <a:rPr sz="1600"/>
              <a:t>⚠ Rủi ro: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2560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OpenAI có thể âm thầm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sz="1600">
                <a:solidFill>
                  <a:schemeClr val="bg1"/>
                </a:solidFill>
              </a:rPr>
              <a:t>cập nhật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0"/>
            <a:ext cx="2743200" cy="2011680"/>
          </a:xfrm>
          <a:prstGeom prst="roundRect">
            <a:avLst/>
          </a:prstGeom>
          <a:solidFill>
            <a:srgbClr val="0A2A1A"/>
          </a:solidFill>
          <a:ln w="19050">
            <a:solidFill>
              <a:srgbClr val="0FC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411480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CB9B"/>
                </a:solidFill>
                <a:latin typeface="Segoe UI"/>
              </a:defRPr>
            </a:pPr>
            <a:r>
              <a:rPr sz="1600"/>
              <a:t>✓ Xử lý: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480560"/>
            <a:ext cx="25603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Pin version gpt-4o-2024-05-13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Lưu fingerprint mỗi API 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188720"/>
            <a:ext cx="2743200" cy="731520"/>
          </a:xfrm>
          <a:prstGeom prst="roundRect">
            <a:avLst/>
          </a:prstGeom>
          <a:solidFill>
            <a:srgbClr val="0FC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234440"/>
            <a:ext cx="2560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Segoe UI"/>
              </a:defRPr>
            </a:pPr>
            <a:r>
              <a:rPr sz="1500">
                <a:latin typeface="Montserrat" panose="00000500000000000000" pitchFamily="2" charset="0"/>
              </a:rPr>
              <a:t>EXTERNAL</a:t>
            </a:r>
            <a:br>
              <a:rPr sz="1500">
                <a:latin typeface="Montserrat" panose="00000500000000000000" pitchFamily="2" charset="0"/>
              </a:rPr>
            </a:br>
            <a:r>
              <a:rPr sz="1500">
                <a:latin typeface="Montserrat" panose="00000500000000000000" pitchFamily="2" charset="0"/>
              </a:rPr>
              <a:t>(Bên ngoài)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2011680"/>
            <a:ext cx="2743200" cy="1828800"/>
          </a:xfrm>
          <a:prstGeom prst="roundRect">
            <a:avLst/>
          </a:prstGeom>
          <a:solidFill>
            <a:srgbClr val="2A151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210312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Segoe UI"/>
              </a:defRPr>
            </a:pPr>
            <a:r>
              <a:rPr sz="1600"/>
              <a:t>⚠ Rủi ro: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468880"/>
            <a:ext cx="2560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Test 1 domain → thiếu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sz="1600">
                <a:solidFill>
                  <a:schemeClr val="bg1"/>
                </a:solidFill>
              </a:rPr>
              <a:t>tính tổng quát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4023360"/>
            <a:ext cx="2743200" cy="2011680"/>
          </a:xfrm>
          <a:prstGeom prst="roundRect">
            <a:avLst/>
          </a:prstGeom>
          <a:solidFill>
            <a:srgbClr val="0A2A1A"/>
          </a:solidFill>
          <a:ln w="19050">
            <a:solidFill>
              <a:srgbClr val="0FC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411480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CB9B"/>
                </a:solidFill>
                <a:latin typeface="Segoe UI"/>
              </a:defRPr>
            </a:pPr>
            <a:r>
              <a:rPr sz="1600"/>
              <a:t>✓ Xử lý: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480560"/>
            <a:ext cx="2560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Dataset Dalpiaz: 22 dự án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từ nhiều lĩnh vực khác nhau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188720"/>
            <a:ext cx="2743200" cy="7315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1234440"/>
            <a:ext cx="2560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Segoe UI"/>
              </a:defRPr>
            </a:pPr>
            <a:r>
              <a:rPr sz="1500">
                <a:latin typeface="Montserrat" panose="00000500000000000000" pitchFamily="2" charset="0"/>
              </a:rPr>
              <a:t>CONSTRUCT</a:t>
            </a:r>
            <a:br>
              <a:rPr sz="1500">
                <a:latin typeface="Montserrat" panose="00000500000000000000" pitchFamily="2" charset="0"/>
              </a:rPr>
            </a:br>
            <a:r>
              <a:rPr sz="1500">
                <a:latin typeface="Montserrat" panose="00000500000000000000" pitchFamily="2" charset="0"/>
              </a:rPr>
              <a:t>(Cấu trúc)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011680"/>
            <a:ext cx="2743200" cy="1828800"/>
          </a:xfrm>
          <a:prstGeom prst="roundRect">
            <a:avLst/>
          </a:prstGeom>
          <a:solidFill>
            <a:srgbClr val="2A151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210312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Segoe UI"/>
              </a:defRPr>
            </a:pPr>
            <a:r>
              <a:rPr sz="1600"/>
              <a:t>⚠ Rủi ro: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468880"/>
            <a:ext cx="2560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Cosine cao ≠ đúng logic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nghiệp vụ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023360"/>
            <a:ext cx="2743200" cy="2011680"/>
          </a:xfrm>
          <a:prstGeom prst="roundRect">
            <a:avLst/>
          </a:prstGeom>
          <a:solidFill>
            <a:srgbClr val="0A2A1A"/>
          </a:solidFill>
          <a:ln w="19050">
            <a:solidFill>
              <a:srgbClr val="0FC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411480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CB9B"/>
                </a:solidFill>
                <a:latin typeface="Segoe UI"/>
              </a:defRPr>
            </a:pPr>
            <a:r>
              <a:rPr sz="1600"/>
              <a:t>✓ Xử lý: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480560"/>
            <a:ext cx="25603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Dùng thêm RQ2 (behave parser)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làm metric bảo vệ bổ sung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1188720"/>
            <a:ext cx="274320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0" y="1234440"/>
            <a:ext cx="2560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Segoe UI"/>
              </a:defRPr>
            </a:pPr>
            <a:r>
              <a:rPr sz="1500">
                <a:latin typeface="Montserrat" panose="00000500000000000000" pitchFamily="2" charset="0"/>
              </a:rPr>
              <a:t>CONCLUSION</a:t>
            </a:r>
            <a:br>
              <a:rPr sz="1500">
                <a:latin typeface="Montserrat" panose="00000500000000000000" pitchFamily="2" charset="0"/>
              </a:rPr>
            </a:br>
            <a:r>
              <a:rPr sz="1500">
                <a:latin typeface="Montserrat" panose="00000500000000000000" pitchFamily="2" charset="0"/>
              </a:rPr>
              <a:t>(Kết luận)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2011680"/>
            <a:ext cx="2743200" cy="1828800"/>
          </a:xfrm>
          <a:prstGeom prst="roundRect">
            <a:avLst/>
          </a:prstGeom>
          <a:solidFill>
            <a:srgbClr val="2A151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0" y="210312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Segoe UI"/>
              </a:defRPr>
            </a:pPr>
            <a:r>
              <a:rPr sz="1600"/>
              <a:t>⚠ Rủi ro: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468880"/>
            <a:ext cx="2560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N quá nhỏ → thiếu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sz="1600">
                <a:solidFill>
                  <a:schemeClr val="bg1"/>
                </a:solidFill>
              </a:rPr>
              <a:t>statistical power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4023360"/>
            <a:ext cx="2743200" cy="2011680"/>
          </a:xfrm>
          <a:prstGeom prst="roundRect">
            <a:avLst/>
          </a:prstGeom>
          <a:solidFill>
            <a:srgbClr val="0A2A1A"/>
          </a:solidFill>
          <a:ln w="19050">
            <a:solidFill>
              <a:srgbClr val="0FC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0" y="411480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CB9B"/>
                </a:solidFill>
                <a:latin typeface="Segoe UI"/>
              </a:defRPr>
            </a:pPr>
            <a:r>
              <a:rPr sz="1600"/>
              <a:t>✓ Xử lý: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480560"/>
            <a:ext cx="2560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N ≥ 50 (power ≥ 0.80)</a:t>
            </a:r>
            <a:br>
              <a:rPr sz="1600">
                <a:solidFill>
                  <a:schemeClr val="bg1"/>
                </a:solidFill>
              </a:rPr>
            </a:br>
            <a:r>
              <a:rPr sz="1600">
                <a:solidFill>
                  <a:schemeClr val="bg1"/>
                </a:solidFill>
              </a:rPr>
              <a:t>Dùng exact test, không xấp xỉ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rPr>
                <a:latin typeface="Montserrat" panose="00000500000000000000" pitchFamily="2" charset="0"/>
              </a:rPr>
              <a:t>Timeline &amp; Phân công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Tuần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Hoạt động chính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Nộp proposal + Tải dataset + Setup API + Code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proposal.md, test_api.py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★ GV phê duyệt proposal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GV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proposal.md Approved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Pilot 10 mẫu + Review kết quả + Amendment (nếu cần)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LR+MS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pilot_results.csv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Full experiment 50+ mẫu + Statistical tests + Figures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LR+MS+RW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full_analysis.ipynb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9-10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Viết báo cáo + Thuyết trình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Report + Slide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38912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Segoe UI"/>
              </a:defRPr>
            </a:pPr>
            <a:r>
              <a:rPr>
                <a:latin typeface="Montserrat" panose="00000500000000000000" pitchFamily="2" charset="0"/>
              </a:rPr>
              <a:t>Phân công vai trò: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846320"/>
          <a:ext cx="11612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Thành viên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Trách nhiệm chính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PL (Trưởng nhóm)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Nguyễn Minh Hoàng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Điều phối, review, submit GV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DG (Thu thập dữ liệu)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Trần Tuấn Khang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Dataset + Ground truth + §3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LR (Chạy thí nghiệm)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Nguyễn Hiếu 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API + Script + Batch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MS (Đo điểm)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Võ Hiếu Chương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Metric + Statistical tests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RW (Viết báo cáo)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Tống Vỹ Thuận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Intro/Conclusion/Threats + Figures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FC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CB9B"/>
                </a:solidFill>
                <a:latin typeface="Segoe UI"/>
              </a:defRPr>
            </a:pPr>
            <a:r>
              <a:rPr>
                <a:latin typeface="Montserrat" panose="00000500000000000000" pitchFamily="2" charset="0"/>
              </a:rPr>
              <a:t>Đóng góp dự kiến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8229600" cy="841248"/>
          </a:xfrm>
          <a:prstGeom prst="roundRect">
            <a:avLst/>
          </a:prstGeom>
          <a:solidFill>
            <a:srgbClr val="1E2A4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03120" y="28346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1.  Benchmark đầu tiên đánh giá GPT-4o cho task sinh Gherkin</a:t>
            </a:r>
            <a:br/>
            <a:r>
              <a:t>     từ Connextra user stories trên dataset công khai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206240"/>
            <a:ext cx="8229600" cy="841248"/>
          </a:xfrm>
          <a:prstGeom prst="roundRect">
            <a:avLst/>
          </a:prstGeom>
          <a:solidFill>
            <a:srgbClr val="1E2A4A"/>
          </a:solidFill>
          <a:ln w="19050">
            <a:solidFill>
              <a:srgbClr val="0FC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42976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2.  Framework đánh giá kép (semantic + executable) sử dụng</a:t>
            </a:r>
            <a:br/>
            <a:r>
              <a:t>     cosine similarity (all-MiniLM) + parser thật (behave)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6647" y="2971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  <a:latin typeface="Segoe U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1419</Words>
  <Application>Microsoft Office PowerPoint</Application>
  <PresentationFormat>Widescreen</PresentationFormat>
  <Paragraphs>232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Long</cp:lastModifiedBy>
  <cp:revision>8</cp:revision>
  <dcterms:created xsi:type="dcterms:W3CDTF">2013-01-27T09:14:16Z</dcterms:created>
  <dcterms:modified xsi:type="dcterms:W3CDTF">2026-06-17T18:54:16Z</dcterms:modified>
  <cp:category/>
</cp:coreProperties>
</file>