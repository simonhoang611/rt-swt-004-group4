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9" r:id="rId6"/>
    <p:sldId id="262" r:id="rId7"/>
    <p:sldId id="263" r:id="rId8"/>
    <p:sldId id="264" r:id="rId9"/>
    <p:sldId id="265" r:id="rId10"/>
    <p:sldId id="266" r:id="rId11"/>
    <p:sldId id="268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6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2B2F-5572-82BF-BB36-6149DC58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A3658-6AE0-F410-9ECD-53BC42E97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08560-4BFC-010F-84A3-D114B95D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69DF2-984C-79C7-8808-3795D6B1F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19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9753-C5A2-F11E-C8E4-FC8954F8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D5B4E-F577-F306-29F5-6F3CDF780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6BBF1-C567-AE22-60DA-30F4B8274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DCE33-7773-58E7-1FC5-80E7B5555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99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508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AFCBEE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BÁO CÁO DỰ ÁN NGHIÊN CỨU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95454"/>
            <a:ext cx="9766382" cy="3672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Đánh giá Thực </a:t>
            </a:r>
            <a:r>
              <a:rPr lang="en-US" sz="4800" b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nghiệm ChatGPT 5.4 Mini</a:t>
            </a:r>
            <a:r>
              <a:rPr lang="en-US" sz="4800" dirty="0">
                <a:latin typeface="Montserrat" panose="00000500000000000000" pitchFamily="2" charset="0"/>
              </a:rPr>
              <a:t> </a:t>
            </a:r>
            <a:r>
              <a:rPr lang="en-US" sz="4800" b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trong việc tự </a:t>
            </a:r>
            <a:r>
              <a:rPr lang="en-US" sz="4800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động sinh Gherkin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6199" y="4819772"/>
            <a:ext cx="1463040" cy="0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978315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BEE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Báo cáo Dự án </a:t>
            </a:r>
            <a:r>
              <a:rPr lang="en-US" sz="1500">
                <a:solidFill>
                  <a:srgbClr val="AFCBEE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vi-VN" sz="1500">
                <a:solidFill>
                  <a:srgbClr val="AFCBEE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Nhóm 4</a:t>
            </a:r>
            <a:endParaRPr lang="en-US" sz="15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0164" y="1156862"/>
            <a:ext cx="11091672" cy="1225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Các team Agile phụ thuộc rất nhiều vào BDD và Gherkin để kiểm thử.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Vấn đề: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Việc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dùng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ChatGPT 5.4 mini để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tự động hóa quá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trình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sinh gherkin kiểm thử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còn chưa được nghiên cứu kỹ.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82756" y="629107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7B617D5-2E21-607A-F838-680B880C7FA9}"/>
              </a:ext>
            </a:extLst>
          </p:cNvPr>
          <p:cNvSpPr/>
          <p:nvPr/>
        </p:nvSpPr>
        <p:spPr>
          <a:xfrm>
            <a:off x="533400" y="251216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AE028F5-F354-CE41-95F2-393C12FE2379}"/>
              </a:ext>
            </a:extLst>
          </p:cNvPr>
          <p:cNvSpPr/>
          <p:nvPr/>
        </p:nvSpPr>
        <p:spPr>
          <a:xfrm>
            <a:off x="533400" y="2759054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Tóm </a:t>
            </a: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tắt </a:t>
            </a:r>
            <a:r>
              <a:rPr lang="vi-VN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ự </a:t>
            </a: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án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6051754-111D-351A-2DFA-6955260DDF75}"/>
              </a:ext>
            </a:extLst>
          </p:cNvPr>
          <p:cNvSpPr/>
          <p:nvPr/>
        </p:nvSpPr>
        <p:spPr>
          <a:xfrm>
            <a:off x="550164" y="3874867"/>
            <a:ext cx="11365992" cy="584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2 câu hỏi nghiên cứu của nhóm: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79A1E32-0775-2E55-D8AD-5C10C237C815}"/>
              </a:ext>
            </a:extLst>
          </p:cNvPr>
          <p:cNvSpPr/>
          <p:nvPr/>
        </p:nvSpPr>
        <p:spPr>
          <a:xfrm>
            <a:off x="687324" y="4491228"/>
            <a:ext cx="4844796" cy="1799844"/>
          </a:xfrm>
          <a:prstGeom prst="roundRect">
            <a:avLst>
              <a:gd name="adj" fmla="val 2353"/>
            </a:avLst>
          </a:prstGeom>
          <a:solidFill>
            <a:srgbClr val="F4F8FD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F4404C03-D548-ECE4-C362-E61CF8A742A8}"/>
              </a:ext>
            </a:extLst>
          </p:cNvPr>
          <p:cNvSpPr/>
          <p:nvPr/>
        </p:nvSpPr>
        <p:spPr>
          <a:xfrm>
            <a:off x="809244" y="4491228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2200" dirty="0">
              <a:latin typeface="Montserrat" panose="00000500000000000000" pitchFamily="2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C3653B7-E337-0867-367E-A57A6916B99C}"/>
              </a:ext>
            </a:extLst>
          </p:cNvPr>
          <p:cNvSpPr/>
          <p:nvPr/>
        </p:nvSpPr>
        <p:spPr>
          <a:xfrm>
            <a:off x="809244" y="504729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Chất lượng Ngữ nghĩa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3BD4FC1-A361-F0E1-59F5-554B4740483B}"/>
              </a:ext>
            </a:extLst>
          </p:cNvPr>
          <p:cNvSpPr/>
          <p:nvPr/>
        </p:nvSpPr>
        <p:spPr>
          <a:xfrm>
            <a:off x="809244" y="5502033"/>
            <a:ext cx="4722876" cy="78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Code Gherkin do AI sinh ra có đúng logic nghiệp vụ của chuyên gia không?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5B6916B0-AF09-7698-9F23-456E20CF8B3F}"/>
              </a:ext>
            </a:extLst>
          </p:cNvPr>
          <p:cNvSpPr/>
          <p:nvPr/>
        </p:nvSpPr>
        <p:spPr>
          <a:xfrm>
            <a:off x="6507480" y="4491226"/>
            <a:ext cx="4844796" cy="1799845"/>
          </a:xfrm>
          <a:prstGeom prst="roundRect">
            <a:avLst>
              <a:gd name="adj" fmla="val 2353"/>
            </a:avLst>
          </a:prstGeom>
          <a:solidFill>
            <a:srgbClr val="F4F8FD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DF85E9A4-1E88-68D9-7423-028069FBB1B4}"/>
              </a:ext>
            </a:extLst>
          </p:cNvPr>
          <p:cNvSpPr/>
          <p:nvPr/>
        </p:nvSpPr>
        <p:spPr>
          <a:xfrm>
            <a:off x="6629400" y="4503667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2200" dirty="0">
              <a:latin typeface="Montserrat" panose="00000500000000000000" pitchFamily="2" charset="0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16978A2-29B3-6684-79F7-28820F7A7CA6}"/>
              </a:ext>
            </a:extLst>
          </p:cNvPr>
          <p:cNvSpPr/>
          <p:nvPr/>
        </p:nvSpPr>
        <p:spPr>
          <a:xfrm>
            <a:off x="6629400" y="5052307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Độ chính xác Cú pháp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FB0C466B-1D0F-F7DB-7497-CB397707BDE7}"/>
              </a:ext>
            </a:extLst>
          </p:cNvPr>
          <p:cNvSpPr/>
          <p:nvPr/>
        </p:nvSpPr>
        <p:spPr>
          <a:xfrm>
            <a:off x="6629400" y="5502033"/>
            <a:ext cx="4722876" cy="789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Code Gherkin do AI sinh ra có chạy được trên test runner thực tế không?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BB90F3E1-95DC-4F4F-3E11-D48BC33FF3ED}"/>
              </a:ext>
            </a:extLst>
          </p:cNvPr>
          <p:cNvSpPr/>
          <p:nvPr/>
        </p:nvSpPr>
        <p:spPr>
          <a:xfrm>
            <a:off x="550164" y="3425141"/>
            <a:ext cx="11365992" cy="584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Dự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án đánh giá GPT-5.4-mini trên 261 user stories thuộc 3 lĩnh vực khác nhau.</a:t>
            </a:r>
            <a:endParaRPr lang="en-US" sz="16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Nghiên cứu Liên quan &amp; Điểm khuyết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C0D4DB-E3CE-3313-44AF-DF50ED599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33779"/>
              </p:ext>
            </p:extLst>
          </p:nvPr>
        </p:nvGraphicFramePr>
        <p:xfrm>
          <a:off x="320040" y="1389888"/>
          <a:ext cx="11548872" cy="4901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1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 chính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Kết quả tốt nhất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Rathnayake 2026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GPT-4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500 US (nội bộ)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BERTScore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91.16%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Data đóng, không tái lập được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Fernandes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 mẫu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METEOR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Dataset quá nhỏ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Karpurapu 2024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GPT-3.5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~50 US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Gherkin-lint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~0 lỗi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Linter tĩnh (không chạy thực tế)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Ferreira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GPT-4 Turbo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50 kịch bản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Lỗi cú pháp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Chỉ test trên hệ thống xe hơi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dos Santos 2025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ChatGPT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34 stories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Độ bao phủ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Không parse code thực tế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Narvaez 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Claude 3.7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Luật ATTP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Không liên quan ngành phần mềm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Fonseca 2025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DeepSeek-R1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JIRA BMW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Lỗi cú pháp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93.3%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Chỉ test nội bộ xe hơi BMW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Zhang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Java classes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Độ bao phủ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92.51%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GPT-3.5 lỗi 97.84%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Chang 2025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GPT-4o-mini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Python code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Ổn định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Tốt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Dành cho Python, không phải Gherkin</a:t>
                      </a:r>
                    </a:p>
                  </a:txBody>
                  <a:tcPr marL="73152" marR="73152" marT="27432" marB="27432" anchor="ctr"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Sisomboon 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 model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Fake Criteria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Độ bao phủ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98.44%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Data giả lập (không thực tế)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 kern="0" spc="15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vi-VN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2190"/>
            <a:ext cx="11091672" cy="646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Thu thập 261 gherkin chuẩn từ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lĩnh vực khác nhau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Sylius (Thương mại điện tử), Fineract (Tài chính), Diaspora (Mạng xã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hội).</a:t>
            </a:r>
            <a:endParaRPr lang="vi-VN" sz="1600">
              <a:solidFill>
                <a:srgbClr val="1A1A1A"/>
              </a:solidFill>
              <a:latin typeface="Montserrat" panose="000005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872287-1FDD-34B3-CB10-1A0D43D5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794" y="2226949"/>
            <a:ext cx="8153359" cy="16721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F877E2-95F3-2821-6582-DC06124AE8DD}"/>
              </a:ext>
            </a:extLst>
          </p:cNvPr>
          <p:cNvSpPr txBox="1"/>
          <p:nvPr/>
        </p:nvSpPr>
        <p:spPr>
          <a:xfrm>
            <a:off x="548640" y="4417682"/>
            <a:ext cx="11091672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Reverse 261 gherkin chuẩn về 261 user stories để AI sinh ra gherkin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E83DA4-4F29-3595-4430-054C88C81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391" y="5046818"/>
            <a:ext cx="8808169" cy="87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98F7D-D19B-2FBA-5F37-CE507338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2AB976-4D37-ABF9-A9A5-6E1E3B93594B}"/>
              </a:ext>
            </a:extLst>
          </p:cNvPr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F46AA0-A281-D787-8F23-A15BA51E3013}"/>
              </a:ext>
            </a:extLst>
          </p:cNvPr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vi-VN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051AD7-3E23-5CDE-4312-21A9120EA2AD}"/>
              </a:ext>
            </a:extLst>
          </p:cNvPr>
          <p:cNvSpPr/>
          <p:nvPr/>
        </p:nvSpPr>
        <p:spPr>
          <a:xfrm>
            <a:off x="548640" y="1401185"/>
            <a:ext cx="6049788" cy="125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Cấu hình AI:</a:t>
            </a:r>
          </a:p>
          <a:p>
            <a:pPr marL="285750" indent="-285750">
              <a:lnSpc>
                <a:spcPct val="115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Khóa cứng ở phiên bản “gpt-5.4-mini-2026-03-17”</a:t>
            </a:r>
          </a:p>
          <a:p>
            <a:pPr marL="285750" indent="-285750">
              <a:lnSpc>
                <a:spcPct val="115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Temperature = 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027CAF-54A8-955D-FEDC-957BDFB8CC81}"/>
              </a:ext>
            </a:extLst>
          </p:cNvPr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DE1C3F-D6CB-C9DD-1BA3-66D8B2B03176}"/>
              </a:ext>
            </a:extLst>
          </p:cNvPr>
          <p:cNvSpPr txBox="1"/>
          <p:nvPr/>
        </p:nvSpPr>
        <p:spPr>
          <a:xfrm>
            <a:off x="548640" y="2973796"/>
            <a:ext cx="1109167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Chiến lược prompt: mỗi lĩnh vực sẽ là 1 kiểu prompt khác nhau kèm 1 gherkin mẫu từ chính dự án đó (few-shot prompting)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14BBD-CDEA-342A-2844-995BE7AB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095" y="1308191"/>
            <a:ext cx="4587769" cy="1440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A65BE-11F7-3048-7910-E51DFE9F7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204" y="3744429"/>
            <a:ext cx="9109622" cy="281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4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Thang </a:t>
            </a: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đo (Metrics)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2256"/>
            <a:ext cx="1079287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Thang đo RQ1: Skeleton Cosine Similarity (xóa keyword, dùng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all-MiniLM-L6-v2).</a:t>
            </a:r>
            <a:endParaRPr lang="vi-VN" sz="1600">
              <a:solidFill>
                <a:srgbClr val="1A1A1A"/>
              </a:solidFill>
              <a:latin typeface="Montserrat" panose="00000500000000000000" pitchFamily="2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5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1600">
                <a:latin typeface="Montserrat" panose="00000500000000000000" pitchFamily="2" charset="0"/>
              </a:rPr>
              <a:t>Ví dụ:</a:t>
            </a:r>
          </a:p>
          <a:p>
            <a:pPr marL="285750" indent="-285750">
              <a:lnSpc>
                <a:spcPct val="115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vi-VN" sz="160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1B90B-E1A2-D31B-FB9E-A11235B4A0B0}"/>
              </a:ext>
            </a:extLst>
          </p:cNvPr>
          <p:cNvSpPr txBox="1"/>
          <p:nvPr/>
        </p:nvSpPr>
        <p:spPr>
          <a:xfrm>
            <a:off x="277367" y="2353851"/>
            <a:ext cx="58661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@checkout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Feature: Preventing checkout completion with an unavailable shipping method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Background: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Given the store operates on a single channel in "United States"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And the store has a product "PHP T-Shirt" priced at "$12.00"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And the store has "DHL" shipping method with "$10.00" fee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@ui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Scenario: Being unable to complete checkout when shipping method is disabled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And the "DHL" shipping method is disabled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When the customer tries to confirm the order</a:t>
            </a:r>
            <a:endParaRPr lang="en-US" sz="11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1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    Then I should be informed that the chosen shipping method is not available</a:t>
            </a:r>
            <a:endParaRPr lang="en-US" sz="1100"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0325E-83FD-82EC-580B-A7A32BB91400}"/>
              </a:ext>
            </a:extLst>
          </p:cNvPr>
          <p:cNvSpPr txBox="1"/>
          <p:nvPr/>
        </p:nvSpPr>
        <p:spPr>
          <a:xfrm>
            <a:off x="548640" y="4575826"/>
            <a:ext cx="6408174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Thang đo RQ2: Executable Syntax Rate (dùng behave --dry-run).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FB699-EBEA-8CA3-4209-F230CC3567FF}"/>
              </a:ext>
            </a:extLst>
          </p:cNvPr>
          <p:cNvSpPr txBox="1"/>
          <p:nvPr/>
        </p:nvSpPr>
        <p:spPr>
          <a:xfrm>
            <a:off x="6544596" y="2443138"/>
            <a:ext cx="53700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Feature: Preventing checkout completion with an unavailable shipping method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Background: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Given the store operates on a single channel in &lt;PARAM&gt;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And the store has a product &lt;PARAM&gt; priced at &lt;PARAM&gt;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And the store has &lt;PARAM&gt; shipping method with &lt;PARAM&gt; fee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Scenario: Being unable to complete checkout when shipping method is disabled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And the &lt;PARAM&gt; shipping method is disabled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When the customer tries to confirm the order</a:t>
            </a:r>
            <a:endParaRPr lang="en-US" sz="100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0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Then I should be informed that the chosen shipping method is not available</a:t>
            </a:r>
            <a:endParaRPr lang="en-US" sz="1000">
              <a:effectLst/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5EF26-8E1A-4AC9-1E64-605DB7FDAACD}"/>
              </a:ext>
            </a:extLst>
          </p:cNvPr>
          <p:cNvSpPr txBox="1"/>
          <p:nvPr/>
        </p:nvSpPr>
        <p:spPr>
          <a:xfrm>
            <a:off x="2358979" y="2087784"/>
            <a:ext cx="170294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Trước khi gọt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FC921-85E1-A457-76B9-A80C33C2EEE1}"/>
              </a:ext>
            </a:extLst>
          </p:cNvPr>
          <p:cNvSpPr txBox="1"/>
          <p:nvPr/>
        </p:nvSpPr>
        <p:spPr>
          <a:xfrm>
            <a:off x="8378140" y="2087784"/>
            <a:ext cx="170294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Sau khi gọt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E649A-4B44-329B-C846-196634B1F2EA}"/>
              </a:ext>
            </a:extLst>
          </p:cNvPr>
          <p:cNvSpPr txBox="1"/>
          <p:nvPr/>
        </p:nvSpPr>
        <p:spPr>
          <a:xfrm>
            <a:off x="1561337" y="5542365"/>
            <a:ext cx="329823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Feature: Login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Scenario: Valid login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Given the user is on the login page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When the user enters valid credentials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Then the user should see the dashboard</a:t>
            </a:r>
            <a:endParaRPr lang="en-US" sz="1050">
              <a:effectLst/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C0DC43-DD6F-784E-0D4B-BA05A143B790}"/>
              </a:ext>
            </a:extLst>
          </p:cNvPr>
          <p:cNvSpPr txBox="1"/>
          <p:nvPr/>
        </p:nvSpPr>
        <p:spPr>
          <a:xfrm>
            <a:off x="7867170" y="5546749"/>
            <a:ext cx="27248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Featur: Login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Scenaro: Valid login</a:t>
            </a:r>
            <a:endParaRPr lang="en-US" sz="1050">
              <a:effectLst/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en-US" sz="1050" b="0" i="0" u="none" strike="noStrike">
                <a:solidFill>
                  <a:srgbClr val="101010"/>
                </a:solidFill>
                <a:effectLst/>
                <a:latin typeface="Montserrat" panose="00000500000000000000" pitchFamily="2" charset="0"/>
              </a:rPr>
              <a:t>   Givn the user is on the login page</a:t>
            </a:r>
            <a:endParaRPr lang="en-US" sz="1050">
              <a:effectLst/>
              <a:latin typeface="Montserrat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2F67E9-6106-A961-8B29-2A9E825C68A3}"/>
              </a:ext>
            </a:extLst>
          </p:cNvPr>
          <p:cNvSpPr txBox="1"/>
          <p:nvPr/>
        </p:nvSpPr>
        <p:spPr>
          <a:xfrm>
            <a:off x="2358979" y="5187011"/>
            <a:ext cx="170294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Ví dụ Pass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232E2F-3AEB-3AD8-9119-B7366253964E}"/>
              </a:ext>
            </a:extLst>
          </p:cNvPr>
          <p:cNvSpPr txBox="1"/>
          <p:nvPr/>
        </p:nvSpPr>
        <p:spPr>
          <a:xfrm>
            <a:off x="8378140" y="5187011"/>
            <a:ext cx="1702948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Ví dụ Fail</a:t>
            </a:r>
            <a:endParaRPr lang="en-US" sz="16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quả — RQ1 (Ngữ nghĩa)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7703" y="2089846"/>
            <a:ext cx="3960731" cy="2678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Điểm trung vị = 0.853.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Kiểm định Wilcoxon p-value = 0.355 (Thất bại trong việc bác bỏ giả thuyết H0).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luận: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LLM chưa thể duy trì độ chuẩn xác logic khi đối mặt với nghiệp vụ phức tạp.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8BD8B9-8D6D-8BF1-1A37-AE7FDA93A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434" y="1231382"/>
            <a:ext cx="7526197" cy="4918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quả — RQ1 (Phân tích </a:t>
            </a: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vi-VN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lĩnh vực</a:t>
            </a: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)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4465" y="2259453"/>
            <a:ext cx="3347883" cy="23390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Có sự chênh lệch lớn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giữa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các lĩnh vực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latin typeface="Montserrat" panose="00000500000000000000" pitchFamily="2" charset="0"/>
              </a:rPr>
              <a:t>Độ tương quan giữa gherkin generated bởi AI và gherkin mẫu của lĩnh vực E-commerce cao hơn so với 2 lĩnh vực còn lại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32F27-9523-80E1-609C-744DE19FB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532" y="1389888"/>
            <a:ext cx="7814500" cy="4630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quả — RQ2 (Cú pháp)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06701"/>
            <a:ext cx="8565864" cy="15426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261/261 kịch bản chạy thành công (Tỷ lệ pass 100%).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Kiểm định Exact Binomial p-value &lt; 0.001 (Bác bỏ giả thuyết H0).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CF2494-8E88-526E-3D33-1FD69A18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890" y="2389239"/>
            <a:ext cx="6844220" cy="4214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Bàn luận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02436"/>
            <a:ext cx="11091672" cy="1404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latin typeface="Montserrat" panose="00000500000000000000" pitchFamily="2" charset="0"/>
              </a:rPr>
              <a:t>Model ChatGPT 5.4 mini vẫn chưa thể viết gherkin test chi tiết và chính xác như con người dù output đạt 100% tỷ lệ executable về cú pháp hay có skeleton cosine similarity vừa trên ngưỡng 0.85.</a:t>
            </a:r>
            <a:endParaRPr lang="en-US" sz="1600">
              <a:latin typeface="Montserrat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D270B86-000F-C7DC-6BD8-17B8A08F06EA}"/>
              </a:ext>
            </a:extLst>
          </p:cNvPr>
          <p:cNvSpPr/>
          <p:nvPr/>
        </p:nvSpPr>
        <p:spPr>
          <a:xfrm>
            <a:off x="548640" y="20753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EA1C6B2-F514-07F1-4170-B1D1C5DC7396}"/>
              </a:ext>
            </a:extLst>
          </p:cNvPr>
          <p:cNvSpPr/>
          <p:nvPr/>
        </p:nvSpPr>
        <p:spPr>
          <a:xfrm>
            <a:off x="548640" y="2326851"/>
            <a:ext cx="11091672" cy="675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Rủi ro Nghiên cứu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C1EC6E9-356B-0227-3B8A-916347608FFC}"/>
              </a:ext>
            </a:extLst>
          </p:cNvPr>
          <p:cNvSpPr/>
          <p:nvPr/>
        </p:nvSpPr>
        <p:spPr>
          <a:xfrm>
            <a:off x="594360" y="3035216"/>
            <a:ext cx="11091672" cy="3288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2000" b="1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Rủi ro thang đo</a:t>
            </a:r>
            <a:endParaRPr lang="en-US" sz="2000" dirty="0">
              <a:latin typeface="Montserrat" panose="00000500000000000000" pitchFamily="2" charset="0"/>
            </a:endParaRPr>
          </a:p>
          <a:p>
            <a:pPr marL="457200" lvl="1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Thuật toán Cosine Similarity có thể chưa nắm bắt được hết sắc thái ngữ nghĩa.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2000" b="1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Rủi ro nội tại</a:t>
            </a:r>
            <a:endParaRPr lang="en-US" sz="2000" dirty="0">
              <a:latin typeface="Montserrat" panose="00000500000000000000" pitchFamily="2" charset="0"/>
            </a:endParaRPr>
          </a:p>
          <a:p>
            <a:pPr marL="457200" lvl="1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Cách viết Prompt ảnh hưởng rất lớn đến đầu ra của LLM.</a:t>
            </a:r>
            <a:endParaRPr lang="en-US" sz="1600" dirty="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2000" b="1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Rủi ro ngoại lai</a:t>
            </a:r>
            <a:endParaRPr lang="en-US" sz="2000" dirty="0">
              <a:latin typeface="Montserrat" panose="00000500000000000000" pitchFamily="2" charset="0"/>
            </a:endParaRPr>
          </a:p>
          <a:p>
            <a:pPr marL="457200" lvl="1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quả hiện tại mới giới hạn ở 3 dự án mã nguồn mở.</a:t>
            </a:r>
            <a:endParaRPr lang="en-US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88E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B3D9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000" dirty="0">
              <a:latin typeface="Montserrat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41796"/>
            <a:ext cx="1090879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Model ChatGPT 5.4 mini có thể hỗ trợ QA trong việc v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iết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nháp (drafting) khung cú pháp giúp tiết kiệm thời gian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gõ code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chứ không thể viết 1 gherkin chuẩn giống như con người được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>
                <a:latin typeface="Montserrat" panose="00000500000000000000" pitchFamily="2" charset="0"/>
              </a:rPr>
              <a:t> </a:t>
            </a:r>
            <a:endParaRPr lang="vi-VN" sz="1600">
              <a:latin typeface="Montserrat" panose="00000500000000000000" pitchFamily="2" charset="0"/>
            </a:endParaRP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Kỹ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sư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QA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vẫn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phải </a:t>
            </a:r>
            <a:r>
              <a:rPr lang="vi-VN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là người </a:t>
            </a:r>
            <a:r>
              <a:rPr lang="en-US" sz="160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trực </a:t>
            </a:r>
            <a:r>
              <a:rPr lang="en-US" sz="1600" dirty="0">
                <a:solidFill>
                  <a:srgbClr val="1A1A1A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tiếp review và sửa phần logic nghiệp vụ.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57432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vi-VN" sz="11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96F13-4161-1515-045F-CB96DA8C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CAA67D2-9A6B-90B0-6AE7-BA002D614C87}"/>
              </a:ext>
            </a:extLst>
          </p:cNvPr>
          <p:cNvSpPr/>
          <p:nvPr/>
        </p:nvSpPr>
        <p:spPr>
          <a:xfrm>
            <a:off x="822960" y="1995454"/>
            <a:ext cx="9766382" cy="3672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vi-VN" sz="4800" b="1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CẢM ƠN CÔ VÀ CÁC BẠN ĐÃ LẮNG NGHE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B5FA0F-F2BC-2B48-525D-40D5F39B1190}"/>
              </a:ext>
            </a:extLst>
          </p:cNvPr>
          <p:cNvSpPr/>
          <p:nvPr/>
        </p:nvSpPr>
        <p:spPr>
          <a:xfrm>
            <a:off x="4951034" y="3872923"/>
            <a:ext cx="1463040" cy="0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E406A2-4C04-9025-DCFC-80E2BAD6AE8D}"/>
              </a:ext>
            </a:extLst>
          </p:cNvPr>
          <p:cNvSpPr/>
          <p:nvPr/>
        </p:nvSpPr>
        <p:spPr>
          <a:xfrm>
            <a:off x="2234896" y="4084563"/>
            <a:ext cx="69425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>
                <a:solidFill>
                  <a:srgbClr val="AFCBEE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Nhóm 4</a:t>
            </a:r>
            <a:endParaRPr lang="en-US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6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1057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Long</cp:lastModifiedBy>
  <cp:revision>3</cp:revision>
  <dcterms:created xsi:type="dcterms:W3CDTF">2026-07-22T12:35:22Z</dcterms:created>
  <dcterms:modified xsi:type="dcterms:W3CDTF">2026-07-22T20:38:15Z</dcterms:modified>
</cp:coreProperties>
</file>